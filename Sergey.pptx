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7375E"/>
    <a:srgbClr val="35353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72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61872" y="4800600"/>
            <a:ext cx="9418320" cy="1691640"/>
          </a:xfrm>
        </p:spPr>
        <p:txBody>
          <a:bodyPr>
            <a:normAutofit/>
          </a:bodyPr>
          <a:lstStyle>
            <a:lvl1pPr marL="0" indent="0" algn="l">
              <a:buNone/>
              <a:defRPr sz="2200" baseline="0">
                <a:solidFill>
                  <a:schemeClr val="tx1">
                    <a:lumMod val="75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</a:schemeClr>
                </a:solidFill>
              </a:defRPr>
            </a:lvl1pPr>
          </a:lstStyle>
          <a:p>
            <a:fld id="{93646227-2445-453E-B510-42801F92B7A6}" type="datetimeFigureOut">
              <a:rPr lang="ru-RU" smtClean="0"/>
              <a:t>12.09.2026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fld id="{AA7CDA69-B71F-493A-90A9-ECE4B5BC0F97}" type="slidenum">
              <a:rPr lang="ru-RU" smtClean="0"/>
              <a:t>‹#›</a:t>
            </a:fld>
            <a:endParaRPr lang="ru-RU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45442961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46227-2445-453E-B510-42801F92B7A6}" type="datetimeFigureOut">
              <a:rPr lang="ru-RU" smtClean="0"/>
              <a:t>12.09.2026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7CDA69-B71F-493A-90A9-ECE4B5BC0F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485635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72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4800600"/>
            <a:ext cx="9418320" cy="1691640"/>
          </a:xfrm>
        </p:spPr>
        <p:txBody>
          <a:bodyPr anchor="t">
            <a:normAutofit/>
          </a:bodyPr>
          <a:lstStyle>
            <a:lvl1pPr marL="0" indent="0">
              <a:buNone/>
              <a:defRPr sz="2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46227-2445-453E-B510-42801F92B7A6}" type="datetimeFigureOut">
              <a:rPr lang="ru-RU" smtClean="0"/>
              <a:t>12.09.2026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7CDA69-B71F-493A-90A9-ECE4B5BC0F97}" type="slidenum">
              <a:rPr lang="ru-RU" smtClean="0"/>
              <a:t>‹#›</a:t>
            </a:fld>
            <a:endParaRPr lang="ru-RU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3919835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61872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6480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46227-2445-453E-B510-42801F92B7A6}" type="datetimeFigureOut">
              <a:rPr lang="ru-RU" smtClean="0"/>
              <a:t>12.09.2026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7CDA69-B71F-493A-90A9-ECE4B5BC0F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718602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61872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26480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buNone/>
              <a:defRPr lang="en-US" sz="2000" b="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2000"/>
              </a:spcBef>
              <a:buFontTx/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26480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46227-2445-453E-B510-42801F92B7A6}" type="datetimeFigureOut">
              <a:rPr lang="ru-RU" smtClean="0"/>
              <a:t>12.09.2026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7CDA69-B71F-493A-90A9-ECE4B5BC0F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56660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46227-2445-453E-B510-42801F92B7A6}" type="datetimeFigureOut">
              <a:rPr lang="ru-RU" smtClean="0"/>
              <a:t>12.09.2026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7CDA69-B71F-493A-90A9-ECE4B5BC0F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226217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46227-2445-453E-B510-42801F92B7A6}" type="datetimeFigureOut">
              <a:rPr lang="ru-RU" smtClean="0"/>
              <a:t>12.09.2026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7CDA69-B71F-493A-90A9-ECE4B5BC0F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780427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200400" cy="1600197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04267" y="685800"/>
            <a:ext cx="6079066" cy="548640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99734"/>
            <a:ext cx="3200400" cy="3810001"/>
          </a:xfrm>
        </p:spPr>
        <p:txBody>
          <a:bodyPr>
            <a:normAutofit/>
          </a:bodyPr>
          <a:lstStyle>
            <a:lvl1pPr marL="0" indent="0">
              <a:lnSpc>
                <a:spcPct val="114000"/>
              </a:lnSpc>
              <a:spcBef>
                <a:spcPts val="800"/>
              </a:spcBef>
              <a:buNone/>
              <a:defRPr sz="13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46227-2445-453E-B510-42801F92B7A6}" type="datetimeFigureOut">
              <a:rPr lang="ru-RU" smtClean="0"/>
              <a:t>12.09.2026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7CDA69-B71F-493A-90A9-ECE4B5BC0F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083512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5105400"/>
            <a:ext cx="11292840" cy="1752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257800"/>
            <a:ext cx="9982200" cy="914400"/>
          </a:xfrm>
        </p:spPr>
        <p:txBody>
          <a:bodyPr anchor="b">
            <a:normAutofit/>
          </a:bodyPr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1292840" cy="5128923"/>
          </a:xfrm>
          <a:solidFill>
            <a:schemeClr val="accent1"/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4400" y="6108589"/>
            <a:ext cx="9982200" cy="5970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800"/>
              </a:spcBef>
              <a:buNone/>
              <a:defRPr sz="1300">
                <a:solidFill>
                  <a:schemeClr val="bg1">
                    <a:lumMod val="8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46227-2445-453E-B510-42801F92B7A6}" type="datetimeFigureOut">
              <a:rPr lang="ru-RU" smtClean="0"/>
              <a:t>12.09.2026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7CDA69-B71F-493A-90A9-ECE4B5BC0F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485648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46227-2445-453E-B510-42801F92B7A6}" type="datetimeFigureOut">
              <a:rPr lang="ru-RU" smtClean="0"/>
              <a:t>12.09.2026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7CDA69-B71F-493A-90A9-ECE4B5BC0F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518896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48700" y="381000"/>
            <a:ext cx="2476500" cy="5897562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81000"/>
            <a:ext cx="7734300" cy="5897562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46227-2445-453E-B510-42801F92B7A6}" type="datetimeFigureOut">
              <a:rPr lang="ru-RU" smtClean="0"/>
              <a:t>12.09.2026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7CDA69-B71F-493A-90A9-ECE4B5BC0F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176860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13255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828800"/>
            <a:ext cx="859536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10797542" y="998537"/>
            <a:ext cx="1904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 b="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fld id="{93646227-2445-453E-B510-42801F92B7A6}" type="datetimeFigureOut">
              <a:rPr lang="ru-RU" smtClean="0"/>
              <a:t>12.09.2026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9959341" y="4046537"/>
            <a:ext cx="358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92840" y="6172200"/>
            <a:ext cx="914400" cy="593725"/>
          </a:xfrm>
          <a:prstGeom prst="rect">
            <a:avLst/>
          </a:prstGeom>
        </p:spPr>
        <p:txBody>
          <a:bodyPr vert="horz" lIns="45720" tIns="45720" rIns="45720" bIns="45720" rtlCol="0" anchor="ctr">
            <a:normAutofit/>
          </a:bodyPr>
          <a:lstStyle>
            <a:lvl1pPr algn="ctr">
              <a:defRPr sz="3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fld id="{AA7CDA69-B71F-493A-90A9-ECE4B5BC0F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131409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spc="-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5000"/>
        </a:lnSpc>
        <a:spcBef>
          <a:spcPts val="1400"/>
        </a:spcBef>
        <a:spcAft>
          <a:spcPts val="200"/>
        </a:spcAft>
        <a:buClr>
          <a:schemeClr val="accent1"/>
        </a:buClr>
        <a:buSzPct val="80000"/>
        <a:buFont typeface="Arial" pitchFamily="34" charset="0"/>
        <a:buChar char="•"/>
        <a:defRPr sz="1800" kern="1200" spc="10" baseline="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2D7DEFF-2DBA-4800-A250-BF671F1F89D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>
                <a:latin typeface="Segoe UI" panose="020B0502040204020203" pitchFamily="34" charset="0"/>
                <a:cs typeface="Segoe UI" panose="020B0502040204020203" pitchFamily="34" charset="0"/>
              </a:rPr>
              <a:t>Методология проектирования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58CE6DCC-0DB8-42B5-B57F-676AF7D1D55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>
                <a:latin typeface="Segoe UI" panose="020B0502040204020203" pitchFamily="34" charset="0"/>
                <a:cs typeface="Segoe UI" panose="020B0502040204020203" pitchFamily="34" charset="0"/>
              </a:rPr>
              <a:t>Вербицкий Сергей Сергеевич</a:t>
            </a:r>
          </a:p>
          <a:p>
            <a:r>
              <a:rPr lang="ru-RU" dirty="0">
                <a:latin typeface="Segoe UI" panose="020B0502040204020203" pitchFamily="34" charset="0"/>
                <a:cs typeface="Segoe UI" panose="020B0502040204020203" pitchFamily="34" charset="0"/>
              </a:rPr>
              <a:t>03-1ИСП24</a:t>
            </a:r>
          </a:p>
          <a:p>
            <a:r>
              <a:rPr lang="ru-RU" dirty="0">
                <a:latin typeface="Segoe UI" panose="020B0502040204020203" pitchFamily="34" charset="0"/>
                <a:cs typeface="Segoe UI" panose="020B0502040204020203" pitchFamily="34" charset="0"/>
              </a:rPr>
              <a:t>ГБПОУ «Технологический колледж № 34»</a:t>
            </a:r>
          </a:p>
          <a:p>
            <a:r>
              <a:rPr lang="ru-RU" dirty="0">
                <a:latin typeface="Segoe UI" panose="020B0502040204020203" pitchFamily="34" charset="0"/>
                <a:cs typeface="Segoe UI" panose="020B0502040204020203" pitchFamily="34" charset="0"/>
              </a:rPr>
              <a:t>2026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DE6F5F4-8017-4CA6-B23D-3F73E5921063}"/>
              </a:ext>
            </a:extLst>
          </p:cNvPr>
          <p:cNvSpPr txBox="1"/>
          <p:nvPr/>
        </p:nvSpPr>
        <p:spPr>
          <a:xfrm>
            <a:off x="1261871" y="6400800"/>
            <a:ext cx="102134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b="1" dirty="0">
                <a:latin typeface="Segoe UI" panose="020B0502040204020203" pitchFamily="34" charset="0"/>
                <a:cs typeface="Segoe UI" panose="020B0502040204020203" pitchFamily="34" charset="0"/>
              </a:rPr>
              <a:t>МДК.06.01 Внедрение, инженерно-техническая поддержка и функционирование информационных систем</a:t>
            </a:r>
          </a:p>
        </p:txBody>
      </p:sp>
    </p:spTree>
    <p:extLst>
      <p:ext uri="{BB962C8B-B14F-4D97-AF65-F5344CB8AC3E}">
        <p14:creationId xmlns:p14="http://schemas.microsoft.com/office/powerpoint/2010/main" val="15996280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E9505BC-F1FF-456E-AA94-B28BDE4349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846" y="365760"/>
            <a:ext cx="9692640" cy="626278"/>
          </a:xfrm>
        </p:spPr>
        <p:txBody>
          <a:bodyPr>
            <a:normAutofit/>
          </a:bodyPr>
          <a:lstStyle/>
          <a:p>
            <a:r>
              <a:rPr lang="ru-RU" sz="3200" dirty="0">
                <a:latin typeface="Segoe UI" panose="020B0502040204020203" pitchFamily="34" charset="0"/>
                <a:cs typeface="Segoe UI" panose="020B0502040204020203" pitchFamily="34" charset="0"/>
              </a:rPr>
              <a:t>Цель методологии и задачи презентации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0403B30-1EA7-4571-952D-0842CC8E2465}"/>
              </a:ext>
            </a:extLst>
          </p:cNvPr>
          <p:cNvSpPr txBox="1"/>
          <p:nvPr/>
        </p:nvSpPr>
        <p:spPr>
          <a:xfrm>
            <a:off x="338846" y="992038"/>
            <a:ext cx="9621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b="1" dirty="0">
                <a:solidFill>
                  <a:srgbClr val="17375E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Цель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83F1E1-B003-4038-8347-5F71C2572B11}"/>
              </a:ext>
            </a:extLst>
          </p:cNvPr>
          <p:cNvSpPr txBox="1"/>
          <p:nvPr/>
        </p:nvSpPr>
        <p:spPr>
          <a:xfrm>
            <a:off x="338846" y="1453703"/>
            <a:ext cx="7614709" cy="23433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latin typeface="Segoe UI" panose="020B0502040204020203" pitchFamily="34" charset="0"/>
                <a:cs typeface="Segoe UI" panose="020B0502040204020203" pitchFamily="34" charset="0"/>
              </a:rPr>
              <a:t>Сформировать системное инженерное мышление и освоить практический инструментарий, который позволяет выбирать, адаптировать и применять наиболее эффективные подходы для управления жизненным циклом проекта в условиях жестких ограничений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1752B4-D47E-49DB-B9B0-A5EC9F1A4BA5}"/>
              </a:ext>
            </a:extLst>
          </p:cNvPr>
          <p:cNvSpPr txBox="1"/>
          <p:nvPr/>
        </p:nvSpPr>
        <p:spPr>
          <a:xfrm>
            <a:off x="338846" y="3824331"/>
            <a:ext cx="12511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b="1" dirty="0">
                <a:solidFill>
                  <a:srgbClr val="17375E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Задачи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53FEC09-308B-472B-B2A1-1FAB290F0498}"/>
              </a:ext>
            </a:extLst>
          </p:cNvPr>
          <p:cNvSpPr txBox="1"/>
          <p:nvPr/>
        </p:nvSpPr>
        <p:spPr>
          <a:xfrm>
            <a:off x="338847" y="4290332"/>
            <a:ext cx="7614709" cy="18816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lnSpc>
                <a:spcPct val="150000"/>
              </a:lnSpc>
              <a:buFont typeface="+mj-lt"/>
              <a:buAutoNum type="arabicPeriod"/>
            </a:pPr>
            <a:r>
              <a:rPr lang="ru-RU" sz="2000" dirty="0">
                <a:latin typeface="Segoe UI" panose="020B0502040204020203" pitchFamily="34" charset="0"/>
                <a:cs typeface="Segoe UI" panose="020B0502040204020203" pitchFamily="34" charset="0"/>
              </a:rPr>
              <a:t>Дать чёткое определение методологии</a:t>
            </a:r>
          </a:p>
          <a:p>
            <a:pPr marL="457200" indent="-457200" algn="just">
              <a:lnSpc>
                <a:spcPct val="150000"/>
              </a:lnSpc>
              <a:buFont typeface="+mj-lt"/>
              <a:buAutoNum type="arabicPeriod"/>
            </a:pPr>
            <a:r>
              <a:rPr lang="ru-RU" sz="2000" dirty="0" err="1">
                <a:latin typeface="Segoe UI" panose="020B0502040204020203" pitchFamily="34" charset="0"/>
                <a:cs typeface="Segoe UI" panose="020B0502040204020203" pitchFamily="34" charset="0"/>
              </a:rPr>
              <a:t>Картко</a:t>
            </a:r>
            <a:r>
              <a:rPr lang="ru-RU" sz="2000" dirty="0">
                <a:latin typeface="Segoe UI" panose="020B0502040204020203" pitchFamily="34" charset="0"/>
                <a:cs typeface="Segoe UI" panose="020B0502040204020203" pitchFamily="34" charset="0"/>
              </a:rPr>
              <a:t> описать её историю</a:t>
            </a:r>
          </a:p>
          <a:p>
            <a:pPr marL="457200" indent="-457200" algn="just">
              <a:lnSpc>
                <a:spcPct val="150000"/>
              </a:lnSpc>
              <a:buFont typeface="+mj-lt"/>
              <a:buAutoNum type="arabicPeriod"/>
            </a:pPr>
            <a:r>
              <a:rPr lang="ru-RU" sz="2000" dirty="0">
                <a:latin typeface="Segoe UI" panose="020B0502040204020203" pitchFamily="34" charset="0"/>
                <a:cs typeface="Segoe UI" panose="020B0502040204020203" pitchFamily="34" charset="0"/>
              </a:rPr>
              <a:t>Определить тип методологии</a:t>
            </a:r>
          </a:p>
          <a:p>
            <a:pPr marL="457200" indent="-457200" algn="just">
              <a:lnSpc>
                <a:spcPct val="150000"/>
              </a:lnSpc>
              <a:buFont typeface="+mj-lt"/>
              <a:buAutoNum type="arabicPeriod"/>
            </a:pPr>
            <a:r>
              <a:rPr lang="ru-RU" sz="2000" dirty="0">
                <a:latin typeface="Segoe UI" panose="020B0502040204020203" pitchFamily="34" charset="0"/>
                <a:cs typeface="Segoe UI" panose="020B0502040204020203" pitchFamily="34" charset="0"/>
              </a:rPr>
              <a:t>Как выглядит процесс разработки</a:t>
            </a:r>
          </a:p>
        </p:txBody>
      </p:sp>
    </p:spTree>
    <p:extLst>
      <p:ext uri="{BB962C8B-B14F-4D97-AF65-F5344CB8AC3E}">
        <p14:creationId xmlns:p14="http://schemas.microsoft.com/office/powerpoint/2010/main" val="10985153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9BB570E-B170-B690-D6C7-70F90ABC4D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00908979879есмс7па7пам8н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574629071"/>
      </p:ext>
    </p:extLst>
  </p:cSld>
  <p:clrMapOvr>
    <a:masterClrMapping/>
  </p:clrMapOvr>
</p:sld>
</file>

<file path=ppt/theme/theme1.xml><?xml version="1.0" encoding="utf-8"?>
<a:theme xmlns:a="http://schemas.openxmlformats.org/drawingml/2006/main" name="Вид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Вид">
      <a:maj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Вид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6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ew" id="{BA0EB5A6-F2D4-4F82-977B-64ADEE4A2A69}" vid="{3969A8A2-35DB-4E3B-8885-16FD2056867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Вид</Template>
  <TotalTime>26</TotalTime>
  <Words>76</Words>
  <Application>Microsoft Office PowerPoint</Application>
  <PresentationFormat>Широкоэкранный</PresentationFormat>
  <Paragraphs>15</Paragraphs>
  <Slides>3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</vt:i4>
      </vt:variant>
    </vt:vector>
  </HeadingPairs>
  <TitlesOfParts>
    <vt:vector size="8" baseType="lpstr">
      <vt:lpstr>Arial</vt:lpstr>
      <vt:lpstr>Century Schoolbook</vt:lpstr>
      <vt:lpstr>Segoe UI</vt:lpstr>
      <vt:lpstr>Wingdings 2</vt:lpstr>
      <vt:lpstr>Вид</vt:lpstr>
      <vt:lpstr>Методология проектирования</vt:lpstr>
      <vt:lpstr>Цель методологии и задачи презентации</vt:lpstr>
      <vt:lpstr>00908979879есмс7па7пам8н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Методология проектирования</dc:title>
  <dc:creator>STUDENT</dc:creator>
  <cp:lastModifiedBy>Сергей Вербицкий</cp:lastModifiedBy>
  <cp:revision>5</cp:revision>
  <dcterms:created xsi:type="dcterms:W3CDTF">2026-09-02T11:02:16Z</dcterms:created>
  <dcterms:modified xsi:type="dcterms:W3CDTF">2026-09-12T07:39:26Z</dcterms:modified>
</cp:coreProperties>
</file>